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  <p:sldMasterId id="2147483752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5" r:id="rId11"/>
    <p:sldId id="276" r:id="rId12"/>
    <p:sldId id="277" r:id="rId13"/>
    <p:sldId id="274" r:id="rId14"/>
    <p:sldId id="270" r:id="rId15"/>
    <p:sldId id="273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334155"/>
                </a:solidFill>
                <a:latin typeface="Arial"/>
              </a:rPr>
              <a:t>Orders by Delivery Status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11A-4C0D-89EA-D0550F194829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11A-4C0D-89EA-D0550F194829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11A-4C0D-89EA-D0550F19482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1A-4C0D-89EA-D0550F19482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1A-4C0D-89EA-D0550F19482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11A-4C0D-89EA-D0550F19482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Early</c:v>
                </c:pt>
                <c:pt idx="1">
                  <c:v>On Time</c:v>
                </c:pt>
                <c:pt idx="2">
                  <c:v>Late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33.85</c:v>
                </c:pt>
                <c:pt idx="1">
                  <c:v>33.21</c:v>
                </c:pt>
                <c:pt idx="2">
                  <c:v>32.94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1A-4C0D-89EA-D0550F1948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334155"/>
                </a:solidFill>
                <a:latin typeface="Arial"/>
              </a:rPr>
              <a:t>Total Production by Department (Million 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(M units)</c:v>
                </c:pt>
              </c:strCache>
            </c:strRef>
          </c:tx>
          <c:spPr>
            <a:solidFill>
              <a:srgbClr val="D4856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342-4A47-9EB4-DCE6A8DF1057}"/>
              </c:ext>
            </c:extLst>
          </c:dPt>
          <c:dPt>
            <c:idx val="1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42-4A47-9EB4-DCE6A8DF1057}"/>
              </c:ext>
            </c:extLst>
          </c:dPt>
          <c:dPt>
            <c:idx val="2"/>
            <c:invertIfNegative val="0"/>
            <c:bubble3D val="0"/>
            <c:spPr>
              <a:solidFill>
                <a:srgbClr val="8B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42-4A47-9EB4-DCE6A8DF1057}"/>
              </c:ext>
            </c:extLst>
          </c:dPt>
          <c:dPt>
            <c:idx val="3"/>
            <c:invertIfNegative val="0"/>
            <c:bubble3D val="0"/>
            <c:spPr>
              <a:solidFill>
                <a:srgbClr val="5A2A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42-4A47-9EB4-DCE6A8DF10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Printed Fabric</c:v>
                </c:pt>
                <c:pt idx="1">
                  <c:v>Woven Lables</c:v>
                </c:pt>
                <c:pt idx="2">
                  <c:v>Knitwear</c:v>
                </c:pt>
                <c:pt idx="3">
                  <c:v>Footwear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14.8</c:v>
                </c:pt>
                <c:pt idx="1">
                  <c:v>15</c:v>
                </c:pt>
                <c:pt idx="2">
                  <c:v>15.1</c:v>
                </c:pt>
                <c:pt idx="3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42-4A47-9EB4-DCE6A8DF10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80D4D-7DA1-4CAF-AEB2-E80FEF5D5B71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E9DA65-5BF9-4DDC-8654-F710AD517E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956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E9DA65-5BF9-4DDC-8654-F710AD517EC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241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10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998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55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837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46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44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76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31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21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75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525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2884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737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213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88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454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880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28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A159D-4F9A-418C-96E5-AAF5BFDE775C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CA7D1-335A-4068-9E91-47FCA446DD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010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84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7E27A-4F22-D11D-66A9-FF2861CA90C6}"/>
              </a:ext>
            </a:extLst>
          </p:cNvPr>
          <p:cNvSpPr txBox="1"/>
          <p:nvPr/>
        </p:nvSpPr>
        <p:spPr>
          <a:xfrm>
            <a:off x="1509251" y="282989"/>
            <a:ext cx="9173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Analytics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3F6A2-A606-16EE-906A-E588161CE078}"/>
              </a:ext>
            </a:extLst>
          </p:cNvPr>
          <p:cNvSpPr txBox="1"/>
          <p:nvPr/>
        </p:nvSpPr>
        <p:spPr>
          <a:xfrm>
            <a:off x="6744929" y="2389239"/>
            <a:ext cx="41885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Prathamesh Chinchole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Pratik More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Nikita Deshmukh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Isha Deol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 Vishwakarma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Swapnil Vishwakarma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Eathakota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Praveen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567EBD-9C25-19A6-3E74-B12901BDA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06" y="1623527"/>
            <a:ext cx="4979140" cy="456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61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4E6E5C-0D22-CCC5-0A92-9C89334CF0B3}"/>
              </a:ext>
            </a:extLst>
          </p:cNvPr>
          <p:cNvSpPr txBox="1"/>
          <p:nvPr/>
        </p:nvSpPr>
        <p:spPr>
          <a:xfrm>
            <a:off x="353961" y="285135"/>
            <a:ext cx="4817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21AF40-EEC2-0C37-F86D-A5550DC3E909}"/>
              </a:ext>
            </a:extLst>
          </p:cNvPr>
          <p:cNvSpPr txBox="1"/>
          <p:nvPr/>
        </p:nvSpPr>
        <p:spPr>
          <a:xfrm>
            <a:off x="235974" y="1140542"/>
            <a:ext cx="111497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Domain: Manufacturing Analytics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Manufacturing industries generate large amounts of production, quality, machine, and operational data. Manufacturing analytics helps organizations: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Improve production efficiency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Reduce rejection and wastage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Monitor machine utilization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Improve delivery performance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Optimize manufacturing cost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project focuses on analyzing manufacturing production data using Excel, SQL, Power BI, and Tableau to identify operational insights and improve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06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F56EBE-6471-FC9B-9E35-4487624BF679}"/>
              </a:ext>
            </a:extLst>
          </p:cNvPr>
          <p:cNvSpPr txBox="1"/>
          <p:nvPr/>
        </p:nvSpPr>
        <p:spPr>
          <a:xfrm>
            <a:off x="452284" y="255639"/>
            <a:ext cx="9694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678DE-A65C-2C9C-8D67-32BBBFCD4F51}"/>
              </a:ext>
            </a:extLst>
          </p:cNvPr>
          <p:cNvSpPr txBox="1"/>
          <p:nvPr/>
        </p:nvSpPr>
        <p:spPr>
          <a:xfrm>
            <a:off x="452283" y="1042219"/>
            <a:ext cx="107761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Production Dataset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Type: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File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Tables Used: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fact_Production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dim_Machine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dim_Employee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dim_Item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dim_Date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Produced_Qty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Rejected_Qty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Efficiency_Rate_Pct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Machine_Utilization_Pct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Delivery_Status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Total_Value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Per_Day_Machine_Cost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625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6E2EF-AA34-5061-9245-125FCB5DEDCC}"/>
              </a:ext>
            </a:extLst>
          </p:cNvPr>
          <p:cNvSpPr txBox="1"/>
          <p:nvPr/>
        </p:nvSpPr>
        <p:spPr>
          <a:xfrm>
            <a:off x="196645" y="108155"/>
            <a:ext cx="5329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79B22-62DB-90DD-EEFB-6199642CDE59}"/>
              </a:ext>
            </a:extLst>
          </p:cNvPr>
          <p:cNvSpPr txBox="1"/>
          <p:nvPr/>
        </p:nvSpPr>
        <p:spPr>
          <a:xfrm>
            <a:off x="521110" y="1170039"/>
            <a:ext cx="10756491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/>
              <a:t>Project Objectives	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Calculate overall manufacturing efficiency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/>
              <a:t>Analyze</a:t>
            </a:r>
            <a:r>
              <a:rPr lang="en-IN" dirty="0"/>
              <a:t> rejection percentage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Study machine utilization performance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/>
              <a:t>Analyze</a:t>
            </a:r>
            <a:r>
              <a:rPr lang="en-IN" dirty="0"/>
              <a:t> department-wise production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Monitor delivery performance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Identify top-performing machines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Create interactive dashboards for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51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46FFE3-E56F-2C34-E3CA-4B9E2C58D634}"/>
              </a:ext>
            </a:extLst>
          </p:cNvPr>
          <p:cNvSpPr txBox="1"/>
          <p:nvPr/>
        </p:nvSpPr>
        <p:spPr>
          <a:xfrm>
            <a:off x="452284" y="176981"/>
            <a:ext cx="5034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C33B93-6829-E2A6-07D6-4F2D501B3FE9}"/>
              </a:ext>
            </a:extLst>
          </p:cNvPr>
          <p:cNvSpPr txBox="1"/>
          <p:nvPr/>
        </p:nvSpPr>
        <p:spPr>
          <a:xfrm>
            <a:off x="452284" y="1022554"/>
            <a:ext cx="9016181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Project Workflow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Collected manufacturing production dataset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Cleaned missing and invalid data in Excel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Imported dataset into SQL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Performed KPI calculations using SQL queries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Connected data to Power BI and Tableau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Built interactive dashboards and visualizations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 err="1"/>
              <a:t>Analyzed</a:t>
            </a:r>
            <a:r>
              <a:rPr lang="en-IN" dirty="0"/>
              <a:t> trends and generated insights</a:t>
            </a:r>
          </a:p>
          <a:p>
            <a:endParaRPr lang="en-IN" dirty="0"/>
          </a:p>
          <a:p>
            <a:r>
              <a:rPr lang="en-IN" b="1" dirty="0"/>
              <a:t>Tools Used:</a:t>
            </a:r>
          </a:p>
          <a:p>
            <a:pPr>
              <a:lnSpc>
                <a:spcPct val="150000"/>
              </a:lnSpc>
            </a:pPr>
            <a:r>
              <a:rPr lang="en-IN" dirty="0"/>
              <a:t>Excel</a:t>
            </a:r>
          </a:p>
          <a:p>
            <a:pPr>
              <a:lnSpc>
                <a:spcPct val="150000"/>
              </a:lnSpc>
            </a:pPr>
            <a:r>
              <a:rPr lang="en-IN" dirty="0"/>
              <a:t>MySQL</a:t>
            </a:r>
          </a:p>
          <a:p>
            <a:pPr>
              <a:lnSpc>
                <a:spcPct val="150000"/>
              </a:lnSpc>
            </a:pPr>
            <a:r>
              <a:rPr lang="en-IN" dirty="0"/>
              <a:t>Power BI</a:t>
            </a:r>
          </a:p>
          <a:p>
            <a:pPr>
              <a:lnSpc>
                <a:spcPct val="150000"/>
              </a:lnSpc>
            </a:pPr>
            <a:r>
              <a:rPr lang="en-IN" dirty="0"/>
              <a:t>Tableau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01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12EDF1-14DC-35F5-2F95-2A54BECB2BA9}"/>
              </a:ext>
            </a:extLst>
          </p:cNvPr>
          <p:cNvSpPr txBox="1"/>
          <p:nvPr/>
        </p:nvSpPr>
        <p:spPr>
          <a:xfrm>
            <a:off x="196646" y="137652"/>
            <a:ext cx="5968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Manufacturing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FBF5E-2E83-C3B4-680E-4811F5368096}"/>
              </a:ext>
            </a:extLst>
          </p:cNvPr>
          <p:cNvSpPr txBox="1"/>
          <p:nvPr/>
        </p:nvSpPr>
        <p:spPr>
          <a:xfrm>
            <a:off x="393291" y="934065"/>
            <a:ext cx="10471354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KPIs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Produced Quantity: 60,050,621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Rejected Quantity: 491,023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Efficiency Rate: 100.98%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Machine Utilization: 83.26%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Rejection Rate: 0.83%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Insights: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Manufacturing efficiency is strong across operations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Low rejection percentage indicates better quality control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High machine utilization improves production output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Efficient production reduces operational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6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2EEEF1-0A09-C926-4BF4-A988A3E1F9BC}"/>
              </a:ext>
            </a:extLst>
          </p:cNvPr>
          <p:cNvSpPr txBox="1"/>
          <p:nvPr/>
        </p:nvSpPr>
        <p:spPr>
          <a:xfrm>
            <a:off x="324464" y="279164"/>
            <a:ext cx="4326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23EECA-30C6-E28E-EE37-CDBA175625F9}"/>
              </a:ext>
            </a:extLst>
          </p:cNvPr>
          <p:cNvSpPr txBox="1"/>
          <p:nvPr/>
        </p:nvSpPr>
        <p:spPr>
          <a:xfrm>
            <a:off x="580103" y="1238865"/>
            <a:ext cx="9419303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Manufacturing analytics improves operational efficiency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Machine utilization strongly impacts production output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Low rejection rate improves product quality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Delivery performance affects customer satisfaction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 analytics helps organizations improve productivity and reduce cost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43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CEE965-6EB4-00E4-C1DA-642527EB7A01}"/>
              </a:ext>
            </a:extLst>
          </p:cNvPr>
          <p:cNvSpPr txBox="1"/>
          <p:nvPr/>
        </p:nvSpPr>
        <p:spPr>
          <a:xfrm>
            <a:off x="481781" y="324465"/>
            <a:ext cx="4542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CBF48-327F-216C-7C83-E4F105D4AE77}"/>
              </a:ext>
            </a:extLst>
          </p:cNvPr>
          <p:cNvSpPr txBox="1"/>
          <p:nvPr/>
        </p:nvSpPr>
        <p:spPr>
          <a:xfrm>
            <a:off x="481781" y="1238865"/>
            <a:ext cx="10097729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Challenges: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Handling large manufacturing datasets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Cleaning inconsistent production records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Calculating KPIs and performance metrics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Building interactive dashboards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Managing production analysis across departments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Learnings: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 cleaning is very important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Visualization simplifies business insights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Machine performance impacts productivity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Manufacturing operations are highly data-driven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706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7A3B00-4167-9C59-0862-4A3431B66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8" y="1820056"/>
            <a:ext cx="3734810" cy="21165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437FD8-E34F-1CA3-204D-9C5B2537007A}"/>
              </a:ext>
            </a:extLst>
          </p:cNvPr>
          <p:cNvSpPr txBox="1"/>
          <p:nvPr/>
        </p:nvSpPr>
        <p:spPr>
          <a:xfrm>
            <a:off x="5822302" y="2254111"/>
            <a:ext cx="5271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Total manufactured quantity is 60M units, showing a very high production volume.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This indicates strong manufacturing capacity and operational efficiency.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The KPI helps track overall production performance in the manufacturing process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614AA-223C-6762-782B-6EB7A6E8371C}"/>
              </a:ext>
            </a:extLst>
          </p:cNvPr>
          <p:cNvSpPr txBox="1"/>
          <p:nvPr/>
        </p:nvSpPr>
        <p:spPr>
          <a:xfrm>
            <a:off x="494522" y="429208"/>
            <a:ext cx="5327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Total Manufactured Quantity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4FF29-304F-244F-2998-FF184D1EC69C}"/>
              </a:ext>
            </a:extLst>
          </p:cNvPr>
          <p:cNvSpPr txBox="1"/>
          <p:nvPr/>
        </p:nvSpPr>
        <p:spPr>
          <a:xfrm>
            <a:off x="5890726" y="1632856"/>
            <a:ext cx="2366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Insight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824602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EBFEF-6872-30DE-5F1A-ECF0E27E1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16" y="1340774"/>
            <a:ext cx="5574948" cy="35829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EA1EB2-6FB5-D5E8-3296-AAD72BE1120A}"/>
              </a:ext>
            </a:extLst>
          </p:cNvPr>
          <p:cNvSpPr txBox="1"/>
          <p:nvPr/>
        </p:nvSpPr>
        <p:spPr>
          <a:xfrm>
            <a:off x="513184" y="279918"/>
            <a:ext cx="7268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Manufactured Vs Rejected Quantity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75739-8670-61AC-6295-1011498A0DF6}"/>
              </a:ext>
            </a:extLst>
          </p:cNvPr>
          <p:cNvSpPr txBox="1"/>
          <p:nvPr/>
        </p:nvSpPr>
        <p:spPr>
          <a:xfrm>
            <a:off x="6755363" y="1145079"/>
            <a:ext cx="28831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Insight</a:t>
            </a:r>
            <a:endParaRPr lang="en-IN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EC52A9-D95D-55A6-0D57-32A4783F87AF}"/>
              </a:ext>
            </a:extLst>
          </p:cNvPr>
          <p:cNvSpPr txBox="1"/>
          <p:nvPr/>
        </p:nvSpPr>
        <p:spPr>
          <a:xfrm>
            <a:off x="6550090" y="1978090"/>
            <a:ext cx="51208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Footwear and Knitwear departments have the highest manufactured quantity (15.1M each).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Woven Labels has the highest rejected quantity (126K), indicating more quality issues.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Printed Fabric has the lowest production (14.8M) and lowest rejection quantity (119K)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01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08C067-D925-A24E-B116-FAC65912C9FA}"/>
              </a:ext>
            </a:extLst>
          </p:cNvPr>
          <p:cNvSpPr txBox="1"/>
          <p:nvPr/>
        </p:nvSpPr>
        <p:spPr>
          <a:xfrm>
            <a:off x="531845" y="242596"/>
            <a:ext cx="5564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Production Trend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80AB4-C34F-BEFC-A0A6-2CE779F62D59}"/>
              </a:ext>
            </a:extLst>
          </p:cNvPr>
          <p:cNvSpPr txBox="1"/>
          <p:nvPr/>
        </p:nvSpPr>
        <p:spPr>
          <a:xfrm>
            <a:off x="6195526" y="1287624"/>
            <a:ext cx="26685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Insight</a:t>
            </a:r>
            <a:endParaRPr lang="en-IN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7DB07-ECCC-9BFA-C43D-25F9EE6E979A}"/>
              </a:ext>
            </a:extLst>
          </p:cNvPr>
          <p:cNvSpPr txBox="1"/>
          <p:nvPr/>
        </p:nvSpPr>
        <p:spPr>
          <a:xfrm>
            <a:off x="6232849" y="1894114"/>
            <a:ext cx="52624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Production reached its highest point in March 2015 with 5.40M units.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The lowest production was recorded in February 2015 at 4.60M units.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Production fluctuated throughout the year but showed recovery towards the end, reaching 5.20M in December 2015.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3DC2F0-F3C2-E98F-D1DC-E7CA4138B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16" y="1499918"/>
            <a:ext cx="5613536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37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CCDDA4-3D00-0B92-34F0-E17A29396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18" y="1342277"/>
            <a:ext cx="5635482" cy="33696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268CAC-E3B7-FD16-B48D-9F52774F3540}"/>
              </a:ext>
            </a:extLst>
          </p:cNvPr>
          <p:cNvSpPr txBox="1"/>
          <p:nvPr/>
        </p:nvSpPr>
        <p:spPr>
          <a:xfrm>
            <a:off x="270588" y="121297"/>
            <a:ext cx="5999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Employee Wise Rejected Quantity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0A95D-2A68-F1DC-B881-E2ABFEC94693}"/>
              </a:ext>
            </a:extLst>
          </p:cNvPr>
          <p:cNvSpPr txBox="1"/>
          <p:nvPr/>
        </p:nvSpPr>
        <p:spPr>
          <a:xfrm>
            <a:off x="6699380" y="2248678"/>
            <a:ext cx="46466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Amit Kumar has the highest rejected quantity (142K).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Pooja Patel is the second highest with 134K rejections.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Rajesh Verma and Shruti Singh have the lowest and equal rejected quantity (108K).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12244-3749-121C-15EA-3C3EA441DD22}"/>
              </a:ext>
            </a:extLst>
          </p:cNvPr>
          <p:cNvSpPr txBox="1"/>
          <p:nvPr/>
        </p:nvSpPr>
        <p:spPr>
          <a:xfrm>
            <a:off x="6774024" y="1686123"/>
            <a:ext cx="21087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Insight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484056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9C5D6AC5-522B-FD45-CFF4-A5A7E703B00C}"/>
              </a:ext>
            </a:extLst>
          </p:cNvPr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PERFORMANCE</a:t>
            </a:r>
            <a:endParaRPr lang="en-US" sz="2600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FFC63EE0-EFBA-CD68-B6B8-DCB3E538F5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3949655"/>
              </p:ext>
            </p:extLst>
          </p:nvPr>
        </p:nvGraphicFramePr>
        <p:xfrm>
          <a:off x="457199" y="1143000"/>
          <a:ext cx="5131837" cy="4222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hape 4">
            <a:extLst>
              <a:ext uri="{FF2B5EF4-FFF2-40B4-BE49-F238E27FC236}">
                <a16:creationId xmlns:a16="http://schemas.microsoft.com/office/drawing/2014/main" id="{57024E1C-EB61-E23D-A6C5-33627E25864B}"/>
              </a:ext>
            </a:extLst>
          </p:cNvPr>
          <p:cNvSpPr/>
          <p:nvPr/>
        </p:nvSpPr>
        <p:spPr>
          <a:xfrm>
            <a:off x="5852160" y="123444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61F487E-B763-C247-6AC5-4CB6016069B6}"/>
              </a:ext>
            </a:extLst>
          </p:cNvPr>
          <p:cNvSpPr/>
          <p:nvPr/>
        </p:nvSpPr>
        <p:spPr>
          <a:xfrm>
            <a:off x="5852160" y="260604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50BE74C9-CB8E-C341-D502-49265E0DAC73}"/>
              </a:ext>
            </a:extLst>
          </p:cNvPr>
          <p:cNvSpPr/>
          <p:nvPr/>
        </p:nvSpPr>
        <p:spPr>
          <a:xfrm>
            <a:off x="5852160" y="3977640"/>
            <a:ext cx="5943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4C0718-6721-62C3-21CF-34CC52454CC6}"/>
              </a:ext>
            </a:extLst>
          </p:cNvPr>
          <p:cNvSpPr txBox="1"/>
          <p:nvPr/>
        </p:nvSpPr>
        <p:spPr>
          <a:xfrm>
            <a:off x="6170645" y="1445016"/>
            <a:ext cx="1974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Early</a:t>
            </a:r>
            <a:endParaRPr lang="en-US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6254D-4DDC-441C-0BAA-12119A574034}"/>
              </a:ext>
            </a:extLst>
          </p:cNvPr>
          <p:cNvSpPr txBox="1"/>
          <p:nvPr/>
        </p:nvSpPr>
        <p:spPr>
          <a:xfrm>
            <a:off x="9762931" y="1445016"/>
            <a:ext cx="158620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33.85%</a:t>
            </a:r>
            <a:endParaRPr lang="en-US" sz="2000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F8A611-8AD9-D7B2-4C09-EAE325D6693E}"/>
              </a:ext>
            </a:extLst>
          </p:cNvPr>
          <p:cNvSpPr txBox="1"/>
          <p:nvPr/>
        </p:nvSpPr>
        <p:spPr>
          <a:xfrm>
            <a:off x="6096000" y="1966450"/>
            <a:ext cx="44600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3,385 orders delivered ahead of schedule</a:t>
            </a:r>
            <a:endParaRPr lang="en-IN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F58BE4-841C-AF47-FBD1-7D6F1EAA4184}"/>
              </a:ext>
            </a:extLst>
          </p:cNvPr>
          <p:cNvSpPr txBox="1"/>
          <p:nvPr/>
        </p:nvSpPr>
        <p:spPr>
          <a:xfrm>
            <a:off x="6096000" y="2884169"/>
            <a:ext cx="217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On Time</a:t>
            </a:r>
            <a:endParaRPr lang="en-US" dirty="0"/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C198A9-F91C-AE61-BE2C-01A6A916BE64}"/>
              </a:ext>
            </a:extLst>
          </p:cNvPr>
          <p:cNvSpPr txBox="1"/>
          <p:nvPr/>
        </p:nvSpPr>
        <p:spPr>
          <a:xfrm>
            <a:off x="6170645" y="3398862"/>
            <a:ext cx="40557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~3,321 orders delivered on the committed date</a:t>
            </a:r>
            <a:endParaRPr lang="en-US" sz="1500" dirty="0"/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FD7B9-7890-6435-2A9B-1B8C91DC0305}"/>
              </a:ext>
            </a:extLst>
          </p:cNvPr>
          <p:cNvSpPr txBox="1"/>
          <p:nvPr/>
        </p:nvSpPr>
        <p:spPr>
          <a:xfrm>
            <a:off x="9688286" y="2914946"/>
            <a:ext cx="146801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33.21%</a:t>
            </a:r>
            <a:endParaRPr lang="en-US" sz="2000" dirty="0"/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DB85A6-86F6-0FFA-A5DD-DB08241931DD}"/>
              </a:ext>
            </a:extLst>
          </p:cNvPr>
          <p:cNvSpPr txBox="1"/>
          <p:nvPr/>
        </p:nvSpPr>
        <p:spPr>
          <a:xfrm>
            <a:off x="6251510" y="4180114"/>
            <a:ext cx="1716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Late</a:t>
            </a:r>
            <a:endParaRPr lang="en-US" dirty="0"/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AD6DC7-E988-58A4-E1B0-12FDCC19DA07}"/>
              </a:ext>
            </a:extLst>
          </p:cNvPr>
          <p:cNvSpPr txBox="1"/>
          <p:nvPr/>
        </p:nvSpPr>
        <p:spPr>
          <a:xfrm>
            <a:off x="9632302" y="4253469"/>
            <a:ext cx="171683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32.94%</a:t>
            </a:r>
            <a:endParaRPr lang="en-US" sz="2000" dirty="0"/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60532C-B944-A61D-9E86-DF3D5091226D}"/>
              </a:ext>
            </a:extLst>
          </p:cNvPr>
          <p:cNvSpPr txBox="1"/>
          <p:nvPr/>
        </p:nvSpPr>
        <p:spPr>
          <a:xfrm>
            <a:off x="6251510" y="4721290"/>
            <a:ext cx="38722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~3,294 orders missed deadline — critical issue</a:t>
            </a:r>
            <a:endParaRPr lang="en-US" sz="1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599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ANALYSIS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53950551"/>
              </p:ext>
            </p:extLst>
          </p:nvPr>
        </p:nvGraphicFramePr>
        <p:xfrm>
          <a:off x="365760" y="1143000"/>
          <a:ext cx="6858000" cy="4035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188720"/>
            <a:ext cx="4389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1188720"/>
            <a:ext cx="73152" cy="685800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2435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Printed Fabric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89520" y="1536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85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14.8M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052560" y="1536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8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Share: 24.5%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406640" y="1984248"/>
            <a:ext cx="4389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06640" y="1984248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039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Woven Lables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58952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8504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15.0M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052560" y="23317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8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Share: 24.8%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406640" y="2779776"/>
            <a:ext cx="4389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06640" y="2779776"/>
            <a:ext cx="73152" cy="685800"/>
          </a:xfrm>
          <a:prstGeom prst="rect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Knitwear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589520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B3A3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15.1M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052560" y="3127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8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Share: 25.0%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406640" y="3575304"/>
            <a:ext cx="4389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06640" y="3575304"/>
            <a:ext cx="73152" cy="685800"/>
          </a:xfrm>
          <a:prstGeom prst="rect">
            <a:avLst/>
          </a:prstGeom>
          <a:solidFill>
            <a:srgbClr val="5A2A2A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0" y="3630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589520" y="39227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A2A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15.1M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052560" y="39227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8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Share: 25.0%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1AF91-D5A2-EA0F-7AB1-1BE9A3DC2CA4}"/>
              </a:ext>
            </a:extLst>
          </p:cNvPr>
          <p:cNvSpPr txBox="1"/>
          <p:nvPr/>
        </p:nvSpPr>
        <p:spPr>
          <a:xfrm>
            <a:off x="393290" y="88490"/>
            <a:ext cx="6243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BFAF66-87CE-3BFA-4786-D6CB77E18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0" y="707923"/>
            <a:ext cx="11385755" cy="580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5E6C18-FF7E-A678-6344-E4D4C8CF8A0F}"/>
              </a:ext>
            </a:extLst>
          </p:cNvPr>
          <p:cNvSpPr txBox="1"/>
          <p:nvPr/>
        </p:nvSpPr>
        <p:spPr>
          <a:xfrm>
            <a:off x="226142" y="186813"/>
            <a:ext cx="4444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C2BC3-50D0-8EFC-7C01-A4377C178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47431"/>
            <a:ext cx="11484077" cy="5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38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D4C1F-9694-0F24-3F61-8FAF4284E24C}"/>
              </a:ext>
            </a:extLst>
          </p:cNvPr>
          <p:cNvSpPr txBox="1"/>
          <p:nvPr/>
        </p:nvSpPr>
        <p:spPr>
          <a:xfrm>
            <a:off x="294968" y="235974"/>
            <a:ext cx="4434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2D46C-89F2-613E-647C-BE0EAEB4C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8" y="1012722"/>
            <a:ext cx="11651225" cy="569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61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677A36-FA4D-11C1-AE99-D89812614792}"/>
              </a:ext>
            </a:extLst>
          </p:cNvPr>
          <p:cNvSpPr txBox="1"/>
          <p:nvPr/>
        </p:nvSpPr>
        <p:spPr>
          <a:xfrm>
            <a:off x="412955" y="157316"/>
            <a:ext cx="4837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85D26-4E22-DC17-F3D7-3AB76040D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939" y="680537"/>
            <a:ext cx="3429482" cy="5805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0659EC-1909-6DE3-FFFB-8B91EEA81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976"/>
          <a:stretch>
            <a:fillRect/>
          </a:stretch>
        </p:blipFill>
        <p:spPr>
          <a:xfrm>
            <a:off x="423253" y="3750907"/>
            <a:ext cx="3429482" cy="2735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6EB24D-6415-D4EC-C1D8-EE736A638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947" y="680537"/>
            <a:ext cx="3429482" cy="58056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ACB9FB-22F3-E531-94EE-E99DEBF62F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64"/>
          <a:stretch>
            <a:fillRect/>
          </a:stretch>
        </p:blipFill>
        <p:spPr>
          <a:xfrm>
            <a:off x="412955" y="680537"/>
            <a:ext cx="3429482" cy="307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62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6E68-6350-AF75-1230-EC414E6E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336" y="1156559"/>
            <a:ext cx="10355327" cy="2511835"/>
          </a:xfrm>
        </p:spPr>
        <p:txBody>
          <a:bodyPr>
            <a:normAutofit/>
          </a:bodyPr>
          <a:lstStyle/>
          <a:p>
            <a:r>
              <a:rPr lang="en-IN" sz="5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71636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79</TotalTime>
  <Words>639</Words>
  <Application>Microsoft Office PowerPoint</Application>
  <PresentationFormat>Widescreen</PresentationFormat>
  <Paragraphs>150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Black</vt:lpstr>
      <vt:lpstr>Bookman Old Style</vt:lpstr>
      <vt:lpstr>Calibri</vt:lpstr>
      <vt:lpstr>Georgia</vt:lpstr>
      <vt:lpstr>Rockwell</vt:lpstr>
      <vt:lpstr>Times New Roman</vt:lpstr>
      <vt:lpstr>Wingdings</vt:lpstr>
      <vt:lpstr>Damask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Prathamesh Chinchole</dc:creator>
  <cp:lastModifiedBy>Prathamesh Chinchole</cp:lastModifiedBy>
  <cp:revision>2</cp:revision>
  <dcterms:created xsi:type="dcterms:W3CDTF">2026-05-26T16:09:25Z</dcterms:created>
  <dcterms:modified xsi:type="dcterms:W3CDTF">2026-05-27T03:40:28Z</dcterms:modified>
</cp:coreProperties>
</file>